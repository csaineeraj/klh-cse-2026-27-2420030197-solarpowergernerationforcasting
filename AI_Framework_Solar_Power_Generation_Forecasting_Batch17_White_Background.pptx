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6" r:id="rId10"/>
    <p:sldId id="272" r:id="rId11"/>
    <p:sldId id="273" r:id="rId12"/>
    <p:sldId id="274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733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62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391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473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51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100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615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4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64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430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73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563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774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819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234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47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431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268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521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155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287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4390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27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5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109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72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42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3-431X/15/3/185?utm_source=chatgpt.com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8D6F3F14-C6D1-E38E-382F-8D43208B0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45" y="-11094"/>
            <a:ext cx="13468439" cy="68992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0574D0-2DF0-930B-EE8C-7A1D518AE4C0}"/>
              </a:ext>
            </a:extLst>
          </p:cNvPr>
          <p:cNvSpPr txBox="1"/>
          <p:nvPr/>
        </p:nvSpPr>
        <p:spPr>
          <a:xfrm>
            <a:off x="179438" y="507259"/>
            <a:ext cx="10341078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 b="1" i="0" u="none" dirty="0">
                <a:solidFill>
                  <a:srgbClr val="FFFFFF"/>
                </a:solidFill>
                <a:latin typeface="Poppins"/>
              </a:rPr>
              <a:t>AI Framework for Solar Power Generation Forecasting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81C90B-C87C-5FD1-973B-6EA4C5BDE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B0996-20E4-D712-3969-4C100F67A609}"/>
              </a:ext>
            </a:extLst>
          </p:cNvPr>
          <p:cNvSpPr txBox="1"/>
          <p:nvPr/>
        </p:nvSpPr>
        <p:spPr>
          <a:xfrm>
            <a:off x="9942871" y="5049726"/>
            <a:ext cx="617957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M. Harshith Rao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D841F-C4A6-C875-3165-F7F79EBF4BA7}"/>
              </a:ext>
            </a:extLst>
          </p:cNvPr>
          <p:cNvSpPr txBox="1"/>
          <p:nvPr/>
        </p:nvSpPr>
        <p:spPr>
          <a:xfrm>
            <a:off x="4775480" y="5776461"/>
            <a:ext cx="8103994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75" b="0" i="0" u="none" dirty="0">
                <a:solidFill>
                  <a:srgbClr val="64748B"/>
                </a:solidFill>
                <a:latin typeface="Inter"/>
              </a:rPr>
              <a:t>Team ID: </a:t>
            </a:r>
            <a:r>
              <a:rPr lang="en-IN" sz="975" b="1" i="0" u="none" dirty="0">
                <a:solidFill>
                  <a:srgbClr val="CBD5E1"/>
                </a:solidFill>
                <a:latin typeface="Inter"/>
              </a:rPr>
              <a:t>Team 17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AD1C1E-5AD9-2B75-7B50-838AEBEFFCC2}"/>
              </a:ext>
            </a:extLst>
          </p:cNvPr>
          <p:cNvSpPr txBox="1"/>
          <p:nvPr/>
        </p:nvSpPr>
        <p:spPr>
          <a:xfrm>
            <a:off x="9237521" y="5768474"/>
            <a:ext cx="8067554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dirty="0">
                <a:solidFill>
                  <a:srgbClr val="64748B"/>
                </a:solidFill>
                <a:latin typeface="Inter"/>
              </a:rPr>
              <a:t>Institution: </a:t>
            </a:r>
            <a:r>
              <a:rPr lang="en-US" sz="975" b="1" dirty="0">
                <a:solidFill>
                  <a:srgbClr val="CBD5E1"/>
                </a:solidFill>
                <a:latin typeface="Inter"/>
              </a:rPr>
              <a:t>KLH (Deemed to be University)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C0D558-20C0-0301-23E3-A082603F70A6}"/>
              </a:ext>
            </a:extLst>
          </p:cNvPr>
          <p:cNvSpPr txBox="1"/>
          <p:nvPr/>
        </p:nvSpPr>
        <p:spPr>
          <a:xfrm>
            <a:off x="349879" y="5776461"/>
            <a:ext cx="8704162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75" b="0" i="0" u="none" dirty="0">
                <a:solidFill>
                  <a:srgbClr val="64748B"/>
                </a:solidFill>
                <a:latin typeface="Inter"/>
              </a:rPr>
              <a:t>Course: </a:t>
            </a:r>
            <a:r>
              <a:rPr lang="en-IN" sz="975" b="1" i="0" u="none" dirty="0">
                <a:solidFill>
                  <a:srgbClr val="CBD5E1"/>
                </a:solidFill>
                <a:latin typeface="Inter"/>
              </a:rPr>
              <a:t>24ALT3101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AE77A8-82CE-7BA8-0855-646F3E1AA87C}"/>
              </a:ext>
            </a:extLst>
          </p:cNvPr>
          <p:cNvSpPr txBox="1"/>
          <p:nvPr/>
        </p:nvSpPr>
        <p:spPr>
          <a:xfrm>
            <a:off x="9942871" y="5255474"/>
            <a:ext cx="8704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2420090028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30CA9B-930F-4728-A1C9-A5D7E755ADDD}"/>
              </a:ext>
            </a:extLst>
          </p:cNvPr>
          <p:cNvSpPr txBox="1"/>
          <p:nvPr/>
        </p:nvSpPr>
        <p:spPr>
          <a:xfrm>
            <a:off x="6746953" y="5014100"/>
            <a:ext cx="9375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C. Srikar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90E708-3CEE-169D-A4DC-83C96D3B2BB5}"/>
              </a:ext>
            </a:extLst>
          </p:cNvPr>
          <p:cNvSpPr txBox="1"/>
          <p:nvPr/>
        </p:nvSpPr>
        <p:spPr>
          <a:xfrm>
            <a:off x="6746953" y="5223852"/>
            <a:ext cx="9329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2420090025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D1E865-4788-05BB-370F-35969BB2F5AE}"/>
              </a:ext>
            </a:extLst>
          </p:cNvPr>
          <p:cNvSpPr txBox="1"/>
          <p:nvPr/>
        </p:nvSpPr>
        <p:spPr>
          <a:xfrm>
            <a:off x="3205019" y="5006113"/>
            <a:ext cx="93291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Nalla Karthikeya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17FE31-D480-32DF-E5D9-07F333213B51}"/>
              </a:ext>
            </a:extLst>
          </p:cNvPr>
          <p:cNvSpPr txBox="1"/>
          <p:nvPr/>
        </p:nvSpPr>
        <p:spPr>
          <a:xfrm>
            <a:off x="3205019" y="5272077"/>
            <a:ext cx="9329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2420030161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B0F22E-E0B5-FFE2-BBB0-262D44E34659}"/>
              </a:ext>
            </a:extLst>
          </p:cNvPr>
          <p:cNvSpPr txBox="1"/>
          <p:nvPr/>
        </p:nvSpPr>
        <p:spPr>
          <a:xfrm>
            <a:off x="349879" y="4982996"/>
            <a:ext cx="93291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Sai Neeraj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8B7C75-9361-4618-83B4-6062EAF0A5D9}"/>
              </a:ext>
            </a:extLst>
          </p:cNvPr>
          <p:cNvSpPr txBox="1"/>
          <p:nvPr/>
        </p:nvSpPr>
        <p:spPr>
          <a:xfrm>
            <a:off x="334538" y="5223852"/>
            <a:ext cx="9329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2420030197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830" y="1120140"/>
            <a:ext cx="10149840" cy="4955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dirty="0"/>
              <a:t>◆  Solar power output changes continuously because of sunlight, cloud cover, temperature, humidity and other weather conditions.</a:t>
            </a:r>
            <a:endParaRPr lang="en-US" dirty="0"/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Sudden changes in solar generation make grid balancing, battery scheduling and energy management more difficult.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Traditional forecasting methods may struggle with nonlinear relationships between weather conditions and power output.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The project proposes an AI-based framework that learns historical weather and generation patterns to forecast future solar power.</a:t>
            </a:r>
            <a:endParaRPr lang="en-IN" sz="2400" dirty="0"/>
          </a:p>
          <a:p>
            <a:r>
              <a:rPr lang="en-IN" sz="2400" dirty="0"/>
              <a:t>◆ Inaccurate forecasts can lead to poor energy planning, causing power wastage or shortages during changing weather conditions.</a:t>
            </a:r>
          </a:p>
          <a:p>
            <a:r>
              <a:rPr lang="en-IN" sz="2400" dirty="0"/>
              <a:t>◆ A reliable forecasting system is needed to support better grid operation, battery storage planning, and efficient use of solar energy.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B090F-BD2F-3F73-3417-ACA399B3C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3458" y="1220724"/>
            <a:ext cx="10910066" cy="363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◆  To develop an AI framework for short-term solar power generation forecasting.</a:t>
            </a:r>
            <a:endParaRPr lang="en-IN" sz="2000" dirty="0"/>
          </a:p>
          <a:p>
            <a:r>
              <a:rPr lang="en-US" sz="2000" dirty="0"/>
              <a:t>◆ To develop a practical forecasting framework that can support real-time energy planning and efficient solar power utilization.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combine solar generation history with relevant weather and time-based features.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compare machine learning and deep learning models for forecasting performance.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reduce forecasting error and provide reliable predictions for energy management.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evaluate the framework using MAE, RMSE, MAPE and R².</a:t>
            </a:r>
            <a:endParaRPr lang="en-IN" sz="2000" dirty="0"/>
          </a:p>
          <a:p>
            <a:r>
              <a:rPr lang="en-IN" sz="2000" dirty="0"/>
              <a:t>◆ To identify the most important weather and environmental factors affecting solar power generation.</a:t>
            </a:r>
          </a:p>
          <a:p>
            <a:pPr>
              <a:spcAft>
                <a:spcPts val="700"/>
              </a:spcAft>
              <a:defRPr sz="1700"/>
            </a:pP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940BBA-FEFE-F934-F9AC-7C9D121B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3010" y="167818"/>
            <a:ext cx="296542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1661F-A3EE-0C90-BE82-F8FDCF3C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21D591-3494-4D20-233F-7C7B43AE5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622733"/>
              </p:ext>
            </p:extLst>
          </p:nvPr>
        </p:nvGraphicFramePr>
        <p:xfrm>
          <a:off x="248492" y="698183"/>
          <a:ext cx="11518232" cy="6043114"/>
        </p:xfrm>
        <a:graphic>
          <a:graphicData uri="http://schemas.openxmlformats.org/drawingml/2006/table">
            <a:tbl>
              <a:tblPr/>
              <a:tblGrid>
                <a:gridCol w="2879558">
                  <a:extLst>
                    <a:ext uri="{9D8B030D-6E8A-4147-A177-3AD203B41FA5}">
                      <a16:colId xmlns:a16="http://schemas.microsoft.com/office/drawing/2014/main" val="302366178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1792037475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3254073099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2436699125"/>
                    </a:ext>
                  </a:extLst>
                </a:gridCol>
              </a:tblGrid>
              <a:tr h="275760">
                <a:tc>
                  <a:txBody>
                    <a:bodyPr/>
                    <a:lstStyle/>
                    <a:p>
                      <a:r>
                        <a:rPr sz="1050" b="1"/>
                        <a:t>Research Paper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Techniques Used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Purpose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Limitation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42345"/>
                  </a:ext>
                </a:extLst>
              </a:tr>
              <a:tr h="1274183">
                <a:tc>
                  <a:txBody>
                    <a:bodyPr/>
                    <a:lstStyle/>
                    <a:p>
                      <a:r>
                        <a:rPr sz="950" dirty="0"/>
                        <a:t>Voyant et al. (2017)</a:t>
                      </a:r>
                    </a:p>
                    <a:p>
                      <a:r>
                        <a:rPr sz="950" dirty="0"/>
                        <a:t>Machine learning methods for solar radiation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/>
                        <a:t>ANN, SVM, Random Forest, hybrid methods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Review and compare ML approaches for solar radiation forecasting.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Performance varies with location, inputs and data quality.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275075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r>
                        <a:rPr sz="950" dirty="0"/>
                        <a:t>Bacher et al. (2009)</a:t>
                      </a:r>
                    </a:p>
                    <a:p>
                      <a:r>
                        <a:rPr sz="950" dirty="0"/>
                        <a:t>Online short-term solar power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PV power history + weather information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Forecast near-term PV power using recent observations.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Rapid weather changes can reduce forecast accuracy.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84196"/>
                  </a:ext>
                </a:extLst>
              </a:tr>
              <a:tr h="1274183">
                <a:tc>
                  <a:txBody>
                    <a:bodyPr/>
                    <a:lstStyle/>
                    <a:p>
                      <a:r>
                        <a:rPr sz="950" dirty="0"/>
                        <a:t>Pedro &amp; Coimbra (2012)</a:t>
                      </a:r>
                    </a:p>
                    <a:p>
                      <a:r>
                        <a:rPr sz="950" dirty="0"/>
                        <a:t>Solar power production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/>
                        <a:t>Statistical and forecasting techniques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Compare techniques for short-term solar power prediction.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Results depend on forecast horizon and operating conditions.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187744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r>
                        <a:rPr sz="950"/>
                        <a:t>Antonanzas et al. (2016)</a:t>
                      </a:r>
                    </a:p>
                    <a:p>
                      <a:r>
                        <a:rPr sz="950"/>
                        <a:t>Review of photovoltaic power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Physical, statistical and ML approaches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Summarize major PV forecasting methods and applications.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No single method is best for every site and dataset.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46440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232832"/>
                          </a:solidFill>
                        </a:rPr>
                        <a:t>Employee Attrition Prediction: An Explanatory and Statistically Robust Ensemble Learning Model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 — 2026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SHAP, LIME, Optuna, Random Oversampling, Ensemble Learning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To combine accurate prediction with global and local explanations and identify important retention factors.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Uses benchmark datasets, so real-world organizational validation remains important.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3" tooltip="Employee Attrition Prediction: An Explanatory and Statistically Robust Ensemble Learning Model"/>
                        </a:rPr>
                        <a:t>MDPI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2819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dirty="0">
                <a:solidFill>
                  <a:srgbClr val="232832"/>
                </a:solidFill>
              </a:rPr>
              <a:t>Research Gap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700"/>
              </a:spcAft>
              <a:defRPr sz="1650"/>
            </a:pPr>
            <a:r>
              <a:rPr sz="2000" dirty="0"/>
              <a:t>◆  Site Dependence: A model trained for one solar plant may not perform equally well at another location.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Weather Uncertainty: Cloud movement and sudden irradiance changes remain difficult to predict accurately.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Limited Generalization: Many studies use one dataset or one forecasting horizon.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Model Selection: ML and DL models behave differently depending on data size, features and forecast horizon.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Operational Need: Forecasts should support grid scheduling, battery storage and energy planning—not only accuracy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ABD88B-259C-97ED-6382-3468D18F2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9395" y="1539978"/>
            <a:ext cx="1155290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dirty="0"/>
              <a:t>◆ </a:t>
            </a:r>
            <a:r>
              <a:rPr lang="en-IN" sz="2200" b="1" dirty="0"/>
              <a:t>Hybrid AI Forecasting</a:t>
            </a:r>
            <a:r>
              <a:rPr lang="en-IN" sz="2200" dirty="0"/>
              <a:t> – Combines machine learning/deep learning with weather and historical solar-generation data for improved prediction.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Real-Time Weather Integration</a:t>
            </a:r>
            <a:r>
              <a:rPr lang="en-IN" sz="2200" dirty="0"/>
              <a:t> – Uses live irradiance, temperature, cloud cover, wind speed, and humidity data.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Adaptive Learning</a:t>
            </a:r>
            <a:r>
              <a:rPr lang="en-IN" sz="2200" dirty="0"/>
              <a:t> – Continuously learns from new generation data and adapts to seasonal and changing weather patterns.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Multi-Time-Scale Prediction</a:t>
            </a:r>
            <a:r>
              <a:rPr lang="en-IN" sz="2200" dirty="0"/>
              <a:t> – Provides </a:t>
            </a:r>
            <a:r>
              <a:rPr lang="en-IN" sz="2200" b="1" dirty="0"/>
              <a:t>short-term, day-ahead, and long-term</a:t>
            </a:r>
            <a:r>
              <a:rPr lang="en-IN" sz="2200" dirty="0"/>
              <a:t> solar power forecasts.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Uncertainty-Aware Forecasting</a:t>
            </a:r>
            <a:r>
              <a:rPr lang="en-IN" sz="2200" dirty="0"/>
              <a:t> – Predicts not only generation but also a confidence range, helping grid operators manage uncertainty.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E3A95-6E75-FB8F-9C9F-89E5A845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5A5233-0E3A-999E-54A5-050A1B99A860}"/>
              </a:ext>
            </a:extLst>
          </p:cNvPr>
          <p:cNvSpPr txBox="1"/>
          <p:nvPr/>
        </p:nvSpPr>
        <p:spPr>
          <a:xfrm>
            <a:off x="521110" y="52499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IN" sz="3000" dirty="0">
                <a:solidFill>
                  <a:srgbClr val="232832"/>
                </a:solidFill>
              </a:rPr>
              <a:t>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Creativity &amp;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120140"/>
            <a:ext cx="10149840" cy="5730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sz="2400" dirty="0" err="1"/>
              <a:t>nformation</a:t>
            </a:r>
            <a:r>
              <a:rPr sz="2400" dirty="0"/>
              <a:t> in one forecasting pipeline.</a:t>
            </a:r>
            <a:endParaRPr lang="en-US" sz="2400" dirty="0"/>
          </a:p>
          <a:p>
            <a:pPr>
              <a:spcAft>
                <a:spcPts val="700"/>
              </a:spcAft>
              <a:defRPr sz="1700"/>
            </a:pPr>
            <a:r>
              <a:rPr lang="en-US" sz="2400" dirty="0"/>
              <a:t>◆  Novelty: Uses model comparison instead of depending on a single forecasting algorithm.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Adaptive forecasting: The framework can be retrained when new plant data becomes available.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Practical focus: Forecasts are designed for energy scheduling and storage decisions.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Scalable design: The pipeline can be adapted to different solar plants and forecast horizons.</a:t>
            </a:r>
            <a:endParaRPr lang="en-IN" sz="2400" dirty="0"/>
          </a:p>
          <a:p>
            <a:pPr lvl="0"/>
            <a:r>
              <a:rPr lang="en-IN" sz="2400" dirty="0"/>
              <a:t>◆ Hybrid integration: Combines physical solar radiation dynamics with data-driven machine learning for higher accuracy.</a:t>
            </a:r>
          </a:p>
          <a:p>
            <a:pPr lvl="0"/>
            <a:r>
              <a:rPr lang="en-IN" sz="2400" dirty="0"/>
              <a:t>◆ Uncertainty quantification: Provides confidence intervals alongside point forecasts to improve risk-managed grid operations.</a:t>
            </a:r>
          </a:p>
          <a:p>
            <a:pPr>
              <a:spcAft>
                <a:spcPts val="700"/>
              </a:spcAft>
              <a:defRPr sz="1700"/>
            </a:pPr>
            <a:endParaRPr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8DE4F-E3EC-1977-10F0-4F245B83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75417"/>
            <a:ext cx="10149840" cy="508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support the workflow.</a:t>
            </a:r>
            <a:endParaRPr lang="en-US" sz="2000" dirty="0"/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◆  Data feasibility: Public solar-generation and weather datasets can be used for academic experimentation.</a:t>
            </a:r>
          </a:p>
          <a:p>
            <a:pPr>
              <a:spcAft>
                <a:spcPts val="700"/>
              </a:spcAft>
              <a:defRPr sz="1600"/>
            </a:pPr>
            <a:r>
              <a:rPr sz="2000" dirty="0"/>
              <a:t>◆  Implementation feasibility: Preprocessing, model training, evaluation and visualization can be developed in a notebook or dashboard.</a:t>
            </a:r>
          </a:p>
          <a:p>
            <a:pPr>
              <a:spcAft>
                <a:spcPts val="700"/>
              </a:spcAft>
              <a:defRPr sz="1600"/>
            </a:pPr>
            <a:r>
              <a:rPr sz="2000" dirty="0"/>
              <a:t>◆  Evaluation feasibility: MAE, RMSE, MAPE, R² and forecast-error plots provide measurable performance indicators.</a:t>
            </a:r>
          </a:p>
          <a:p>
            <a:r>
              <a:rPr sz="2000" dirty="0"/>
              <a:t>◆  Project scope: Suitable for an academic project and can later be extended to real-time forecasting.</a:t>
            </a:r>
            <a:r>
              <a:rPr lang="en-IN" sz="2000" dirty="0"/>
              <a:t> </a:t>
            </a:r>
          </a:p>
          <a:p>
            <a:r>
              <a:rPr lang="en-IN" sz="2000" dirty="0"/>
              <a:t>◆ Cost feasibility: The project can be implemented using open-source AI/ML libraries and publicly available datasets, minimizing software and data costs.</a:t>
            </a:r>
          </a:p>
          <a:p>
            <a:r>
              <a:rPr lang="en-IN" sz="2000" dirty="0"/>
              <a:t>◆ Time feasibility: The project can be completed within the academic timeline using a phased approach covering data preparation, model development, evaluation, and visualization.</a:t>
            </a:r>
          </a:p>
          <a:p>
            <a:pPr>
              <a:spcAft>
                <a:spcPts val="700"/>
              </a:spcAft>
              <a:defRPr sz="1600"/>
            </a:pP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216FC8-19C2-BE2C-20ED-3E10695A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Project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296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rPr dirty="0"/>
              <a:t> Phase 1 — Literature survey &amp; problem definition</a:t>
            </a:r>
          </a:p>
          <a:p>
            <a:pPr>
              <a:spcAft>
                <a:spcPts val="700"/>
              </a:spcAft>
              <a:defRPr sz="1550"/>
            </a:pPr>
            <a:r>
              <a:rPr lang="en-IN" sz="1550" dirty="0"/>
              <a:t>◆ Phase 1 — Problem definition &amp; requirement analysis 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2 — Dataset collection &amp; preprocessing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3 — Exploratory data analysis &amp; feature engineering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4 — ML/DL model development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5 — Model comparison &amp; hyperparameter tuning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6 — Forecast evaluation &amp; error analysis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7 — Dashboard / visualization development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8 — Testing, documentation &amp;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64518E-E70A-10D7-1A5F-712877981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9CABA2-BFD0-F134-0578-7E562779BD65}"/>
              </a:ext>
            </a:extLst>
          </p:cNvPr>
          <p:cNvSpPr txBox="1"/>
          <p:nvPr/>
        </p:nvSpPr>
        <p:spPr>
          <a:xfrm>
            <a:off x="521110" y="56614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IN" sz="3000" dirty="0">
                <a:solidFill>
                  <a:srgbClr val="232832"/>
                </a:solidFill>
              </a:rPr>
              <a:t>Project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0176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3657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/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0424160" cy="228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058400" cy="454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Data Collection — Gather historical solar generation and weather data such as irradiance, temperature, humidity, cloud cover and wind speed.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Data Preprocessing — Handle missing values and outliers, align timestamps, normalize/scale numerical features, and prepare training sequences.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Feature Engineering — Create time-based features (hour, day, season) and relevant weather/solar features to capture generation patterns.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Exploratory Data Analysis — Study correlations, seasonal trends, weather impacts and generation variability.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Model Development — Train and compare ML/DL models using historical features and solar-generation history.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Hyperparameter Tuning — Optimize model parameters using validation data to improve forecasting performance.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Forecast Evaluation — Measure MAE, RMSE, MAPE and R² and perform forecast-error analysis.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Deployment &amp; Adaptation — Present forecasts through a dashboard and retrain the framework when new plant data becomes available.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636A67-4A51-3052-46F4-705E9D343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3657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/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0424160" cy="228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Input Layer — Historical solar power, irradiance, temperature, humidity, cloud cover, wind speed and time-based features.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Data Processing Layer — Data cleaning, missing-value handling, outlier treatment, feature engineering and scaling.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AI Forecasting Layer — Parallel ML/DL models learn nonlinear relationships between weather conditions and solar generation.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Model Selection Layer — Compare model performance using MAE, RMSE, MAPE and R², then select the appropriate forecasting model for the application.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Prediction Layer — Generate short-term, day-ahead and longer-horizon solar power forecasts.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Uncertainty Layer — Provide confidence ranges along with point forecasts to support risk-aware energy planning.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Visualization Layer — Dashboard displays actual vs. predicted generation, weather inputs and forecast-error metrics.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Feedback Layer — New plant data is incorporated for periodic retraining and adaptive forecasting.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05B444-CA64-783C-C525-BD0B791C1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Modern Tools &amp;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3657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/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0424160" cy="228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058400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Python — Core programming language for data processing, machine learning and forecasting.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Pandas &amp; NumPy — Data cleaning, transformation, numerical computation and feature preparation.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Scikit-learn — ML model development, preprocessing, model evaluation and hyperparameter tuning.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TensorFlow / </a:t>
            </a:r>
            <a:r>
              <a:rPr sz="1600" dirty="0" err="1"/>
              <a:t>Keras</a:t>
            </a:r>
            <a:r>
              <a:rPr sz="1600" dirty="0"/>
              <a:t> — Deep learning models for capturing temporal and nonlinear solar-generation patterns.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</a:t>
            </a:r>
            <a:r>
              <a:rPr sz="1600" dirty="0" err="1"/>
              <a:t>XGBoost</a:t>
            </a:r>
            <a:r>
              <a:rPr sz="1600" dirty="0"/>
              <a:t> / Random Forest — Tree-based ensemble approaches for model comparison and nonlinear forecasting.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Matplotlib / </a:t>
            </a:r>
            <a:r>
              <a:rPr sz="1600" dirty="0" err="1"/>
              <a:t>Plotly</a:t>
            </a:r>
            <a:r>
              <a:rPr sz="1600" dirty="0"/>
              <a:t> — Visualization of trends, correlations, actual-vs-predicted values and forecast errors.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</a:t>
            </a:r>
            <a:r>
              <a:rPr sz="1600" dirty="0" err="1"/>
              <a:t>Jupyter</a:t>
            </a:r>
            <a:r>
              <a:rPr sz="1600" dirty="0"/>
              <a:t> Notebook / VS Code — Development, experimentation and documentation.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</a:t>
            </a:r>
            <a:r>
              <a:rPr sz="1600" dirty="0" err="1"/>
              <a:t>Streamlit</a:t>
            </a:r>
            <a:r>
              <a:rPr sz="1600" dirty="0"/>
              <a:t> — Interactive dashboard for displaying inputs, predictions, performance metrics and visualizations.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Git &amp; GitHub — Version control, collaboration and project management.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A8FAF7-E54B-ADB3-DA4D-541A07F4A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851F0D-87CE-C6E5-F61C-F5C962ECB980}"/>
              </a:ext>
            </a:extLst>
          </p:cNvPr>
          <p:cNvSpPr/>
          <p:nvPr/>
        </p:nvSpPr>
        <p:spPr>
          <a:xfrm>
            <a:off x="152" y="105156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2335358-F01C-A0AA-2809-2BF2AECE3D8B}"/>
              </a:ext>
            </a:extLst>
          </p:cNvPr>
          <p:cNvSpPr txBox="1"/>
          <p:nvPr/>
        </p:nvSpPr>
        <p:spPr>
          <a:xfrm>
            <a:off x="3932663" y="2839114"/>
            <a:ext cx="51918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US" sz="6600" dirty="0">
                <a:solidFill>
                  <a:srgbClr val="232832"/>
                </a:solidFill>
              </a:rPr>
              <a:t>Thankyou</a:t>
            </a:r>
            <a:endParaRPr lang="en-US" sz="6600" dirty="0"/>
          </a:p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endParaRPr sz="6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444C1E-AD6E-D4CE-41B6-807E47477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249" y="105156"/>
            <a:ext cx="1790855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1211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267</TotalTime>
  <Words>1454</Words>
  <Application>Microsoft Office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Haettenschweiler</vt:lpstr>
      <vt:lpstr>Inter</vt:lpstr>
      <vt:lpstr>Inter SemiBold</vt:lpstr>
      <vt:lpstr>Poppins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KARTHIKEYA</dc:creator>
  <cp:keywords/>
  <dc:description>generated using python-pptx</dc:description>
  <cp:lastModifiedBy>saineeraj chittineni</cp:lastModifiedBy>
  <cp:revision>15</cp:revision>
  <dcterms:created xsi:type="dcterms:W3CDTF">2013-01-27T09:14:16Z</dcterms:created>
  <dcterms:modified xsi:type="dcterms:W3CDTF">2026-09-17T05:44:35Z</dcterms:modified>
  <cp:category/>
</cp:coreProperties>
</file>